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rebuchet MS" charset="1" panose="020B0603020202020204"/>
      <p:regular r:id="rId20"/>
    </p:embeddedFont>
    <p:embeddedFont>
      <p:font typeface="Trebuchet MS Bold" charset="1" panose="020B0703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https://github.com/shivamkofficial/Seasonal-Agriculture-Performance-Analysis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10463" y="2074212"/>
            <a:ext cx="1844345" cy="1589961"/>
            <a:chOff x="0" y="0"/>
            <a:chExt cx="2459126" cy="21199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59101" cy="2119884"/>
            </a:xfrm>
            <a:custGeom>
              <a:avLst/>
              <a:gdLst/>
              <a:ahLst/>
              <a:cxnLst/>
              <a:rect r="r" b="b" t="t" l="l"/>
              <a:pathLst>
                <a:path h="2119884" w="2459101">
                  <a:moveTo>
                    <a:pt x="0" y="1059942"/>
                  </a:moveTo>
                  <a:lnTo>
                    <a:pt x="529971" y="0"/>
                  </a:lnTo>
                  <a:lnTo>
                    <a:pt x="1929130" y="0"/>
                  </a:lnTo>
                  <a:lnTo>
                    <a:pt x="2459101" y="1059942"/>
                  </a:lnTo>
                  <a:lnTo>
                    <a:pt x="1929130" y="2119884"/>
                  </a:lnTo>
                  <a:lnTo>
                    <a:pt x="529971" y="2119884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593629" y="2494559"/>
            <a:ext cx="2499246" cy="2154517"/>
            <a:chOff x="0" y="0"/>
            <a:chExt cx="3332328" cy="28726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32353" cy="2872740"/>
            </a:xfrm>
            <a:custGeom>
              <a:avLst/>
              <a:gdLst/>
              <a:ahLst/>
              <a:cxnLst/>
              <a:rect r="r" b="b" t="t" l="l"/>
              <a:pathLst>
                <a:path h="2872740" w="3332353">
                  <a:moveTo>
                    <a:pt x="0" y="1436370"/>
                  </a:moveTo>
                  <a:lnTo>
                    <a:pt x="718185" y="0"/>
                  </a:lnTo>
                  <a:lnTo>
                    <a:pt x="2614168" y="0"/>
                  </a:lnTo>
                  <a:lnTo>
                    <a:pt x="3332353" y="1436370"/>
                  </a:lnTo>
                  <a:lnTo>
                    <a:pt x="2614168" y="2872740"/>
                  </a:lnTo>
                  <a:lnTo>
                    <a:pt x="718185" y="2872740"/>
                  </a:lnTo>
                  <a:close/>
                </a:path>
              </a:pathLst>
            </a:custGeom>
            <a:solidFill>
              <a:srgbClr val="42D0A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707494" y="7849772"/>
            <a:ext cx="1077392" cy="928783"/>
            <a:chOff x="0" y="0"/>
            <a:chExt cx="1436522" cy="12383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364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436497">
                  <a:moveTo>
                    <a:pt x="0" y="619252"/>
                  </a:moveTo>
                  <a:lnTo>
                    <a:pt x="309626" y="0"/>
                  </a:lnTo>
                  <a:lnTo>
                    <a:pt x="1126871" y="0"/>
                  </a:lnTo>
                  <a:lnTo>
                    <a:pt x="1436497" y="619252"/>
                  </a:lnTo>
                  <a:lnTo>
                    <a:pt x="1126871" y="1238377"/>
                  </a:lnTo>
                  <a:lnTo>
                    <a:pt x="309626" y="1238377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41456" y="607400"/>
            <a:ext cx="977417" cy="842601"/>
            <a:chOff x="0" y="0"/>
            <a:chExt cx="1303223" cy="11234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3274" cy="1123442"/>
            </a:xfrm>
            <a:custGeom>
              <a:avLst/>
              <a:gdLst/>
              <a:ahLst/>
              <a:cxnLst/>
              <a:rect r="r" b="b" t="t" l="l"/>
              <a:pathLst>
                <a:path h="1123442" w="1303274">
                  <a:moveTo>
                    <a:pt x="0" y="561721"/>
                  </a:moveTo>
                  <a:lnTo>
                    <a:pt x="280924" y="0"/>
                  </a:lnTo>
                  <a:lnTo>
                    <a:pt x="1022350" y="0"/>
                  </a:lnTo>
                  <a:lnTo>
                    <a:pt x="1303274" y="561721"/>
                  </a:lnTo>
                  <a:lnTo>
                    <a:pt x="1022350" y="1123442"/>
                  </a:lnTo>
                  <a:lnTo>
                    <a:pt x="280924" y="1123442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4295680" y="1645753"/>
            <a:ext cx="8674916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Seasonal Agriculture Performance Analysis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48512" y="5011743"/>
            <a:ext cx="12523704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Student Name: SHIVAM KUMAR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College: SUYASH INSTITUTE OF INFORMATION TECHNOLOGY GORAKHPUR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AICTE Student ID: STU6a1838239276c1779972131</a:t>
            </a:r>
          </a:p>
          <a:p>
            <a:pPr algn="l">
              <a:lnSpc>
                <a:spcPts val="32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235326" y="3052715"/>
            <a:ext cx="10310527" cy="706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4212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performance changes from one season to another (Kharif, Rabi, Zaid) due to differences in rainfall, temperature, resource availability and market conditions.</a:t>
            </a:r>
          </a:p>
          <a:p>
            <a:pPr algn="l" marL="488632" indent="-244316" lvl="1">
              <a:lnSpc>
                <a:spcPts val="4212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Raw agricultural data does not clearly show how performance differs across seasons or what patterns exist within it.</a:t>
            </a:r>
          </a:p>
          <a:p>
            <a:pPr algn="l" marL="488632" indent="-244316" lvl="1">
              <a:lnSpc>
                <a:spcPts val="4212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 is to analyze the seasonal agriculture dataset and identify meaningful patterns, trends, relationships and variations in yield, cost and profitability.</a:t>
            </a:r>
          </a:p>
          <a:p>
            <a:pPr algn="l" marL="488632" indent="-244316" lvl="1">
              <a:lnSpc>
                <a:spcPts val="4212"/>
              </a:lnSpc>
              <a:buFont typeface="Arial"/>
              <a:buChar char="•"/>
            </a:pPr>
            <a:r>
              <a:rPr lang="en-US" sz="27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Goal: support evidence-based, season-specific agricultural planning through data-driven insights.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3343" y="861822"/>
            <a:ext cx="10310527" cy="110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48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PROBLEM  STATEMENT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993528" y="4396254"/>
            <a:ext cx="4141137" cy="4896612"/>
            <a:chOff x="0" y="0"/>
            <a:chExt cx="5521516" cy="65288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21579" cy="6528816"/>
            </a:xfrm>
            <a:custGeom>
              <a:avLst/>
              <a:gdLst/>
              <a:ahLst/>
              <a:cxnLst/>
              <a:rect r="r" b="b" t="t" l="l"/>
              <a:pathLst>
                <a:path h="6528816" w="5521579">
                  <a:moveTo>
                    <a:pt x="0" y="0"/>
                  </a:moveTo>
                  <a:lnTo>
                    <a:pt x="5521579" y="0"/>
                  </a:lnTo>
                  <a:lnTo>
                    <a:pt x="5521579" y="6528816"/>
                  </a:lnTo>
                  <a:lnTo>
                    <a:pt x="0" y="652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18486" r="-135857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82040" y="1095718"/>
            <a:ext cx="12690177" cy="7353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Description</a:t>
            </a:r>
          </a:p>
          <a:p>
            <a:pPr algn="l">
              <a:lnSpc>
                <a:spcPts val="7199"/>
              </a:lnSpc>
            </a:pPr>
          </a:p>
          <a:p>
            <a:pPr algn="l">
              <a:lnSpc>
                <a:spcPts val="3744"/>
              </a:lnSpc>
            </a:pPr>
          </a:p>
          <a:p>
            <a:pPr algn="l">
              <a:lnSpc>
                <a:spcPts val="4523"/>
              </a:lnSpc>
            </a:pPr>
            <a:r>
              <a:rPr lang="en-US" sz="289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This project analyzes a dataset of 4,000 farm records across 8 Indian states, 8 crops and 3 cropping seasons – Kharif, Rabi and Zaid. It covers environmental conditions (rainfall, temperature, humidity, soil health), resource usage (irrigation, fertilizer, pesticide, water), and economic outcomes (yield, cost, revenue and profit).</a:t>
            </a:r>
          </a:p>
          <a:p>
            <a:pPr algn="l">
              <a:lnSpc>
                <a:spcPts val="4523"/>
              </a:lnSpc>
            </a:pPr>
            <a:r>
              <a:rPr lang="en-US" sz="289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Using Python-based data cleaning, exploratory analysis, statistical testing (ANOVA) and visualization, the project investigates how agricultural performance varies across seasons and derives evidence-based, season-specific planning recommendations.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88362" y="2875674"/>
            <a:ext cx="13386225" cy="638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5400"/>
              </a:lnSpc>
              <a:buFont typeface="Arial"/>
              <a:buChar char="•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Farmers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to plan crop choice, irrigation and resource use for the season ahead.</a:t>
            </a:r>
          </a:p>
          <a:p>
            <a:pPr algn="l" marL="542925" indent="-271462" lvl="1">
              <a:lnSpc>
                <a:spcPts val="5400"/>
              </a:lnSpc>
              <a:buFont typeface="Arial"/>
              <a:buChar char="•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Agricultural policymakers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to design season-specific support schemes and subsidies.</a:t>
            </a:r>
          </a:p>
          <a:p>
            <a:pPr algn="l" marL="542925" indent="-271462" lvl="1">
              <a:lnSpc>
                <a:spcPts val="5400"/>
              </a:lnSpc>
              <a:buFont typeface="Arial"/>
              <a:buChar char="•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Agri-businesses &amp; insurers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to assess seasonal risk and plan crop insurance products.</a:t>
            </a:r>
          </a:p>
          <a:p>
            <a:pPr algn="l" marL="542925" indent="-271462" lvl="1">
              <a:lnSpc>
                <a:spcPts val="5400"/>
              </a:lnSpc>
              <a:buFont typeface="Arial"/>
              <a:buChar char="•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Researchers &amp; students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to study seasonal agricultural trends and build further models.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1451" y="1351121"/>
            <a:ext cx="14886222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WHO ARE THE END USERS?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82040" y="9265206"/>
            <a:ext cx="3271838" cy="728662"/>
            <a:chOff x="0" y="0"/>
            <a:chExt cx="4362450" cy="9715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62450" cy="971550"/>
            </a:xfrm>
            <a:custGeom>
              <a:avLst/>
              <a:gdLst/>
              <a:ahLst/>
              <a:cxnLst/>
              <a:rect r="r" b="b" t="t" l="l"/>
              <a:pathLst>
                <a:path h="971550" w="4362450">
                  <a:moveTo>
                    <a:pt x="0" y="0"/>
                  </a:moveTo>
                  <a:lnTo>
                    <a:pt x="4362450" y="0"/>
                  </a:lnTo>
                  <a:lnTo>
                    <a:pt x="4362450" y="971550"/>
                  </a:lnTo>
                  <a:lnTo>
                    <a:pt x="0" y="971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44238" y="664893"/>
            <a:ext cx="542925" cy="542925"/>
            <a:chOff x="0" y="0"/>
            <a:chExt cx="723900" cy="7239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361950"/>
                  </a:moveTo>
                  <a:cubicBezTo>
                    <a:pt x="0" y="162052"/>
                    <a:pt x="162052" y="0"/>
                    <a:pt x="361950" y="0"/>
                  </a:cubicBezTo>
                  <a:cubicBezTo>
                    <a:pt x="561848" y="0"/>
                    <a:pt x="723900" y="162052"/>
                    <a:pt x="723900" y="361950"/>
                  </a:cubicBezTo>
                  <a:cubicBezTo>
                    <a:pt x="723900" y="561848"/>
                    <a:pt x="561848" y="723900"/>
                    <a:pt x="361950" y="723900"/>
                  </a:cubicBezTo>
                  <a:cubicBezTo>
                    <a:pt x="162052" y="723900"/>
                    <a:pt x="0" y="561848"/>
                    <a:pt x="0" y="36195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510873" y="8408994"/>
            <a:ext cx="981342" cy="981342"/>
            <a:chOff x="0" y="0"/>
            <a:chExt cx="1308456" cy="1308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8354" cy="1308354"/>
            </a:xfrm>
            <a:custGeom>
              <a:avLst/>
              <a:gdLst/>
              <a:ahLst/>
              <a:cxnLst/>
              <a:rect r="r" b="b" t="t" l="l"/>
              <a:pathLst>
                <a:path h="1308354" w="1308354">
                  <a:moveTo>
                    <a:pt x="0" y="654177"/>
                  </a:moveTo>
                  <a:cubicBezTo>
                    <a:pt x="0" y="292862"/>
                    <a:pt x="292862" y="0"/>
                    <a:pt x="654177" y="0"/>
                  </a:cubicBezTo>
                  <a:cubicBezTo>
                    <a:pt x="1015492" y="0"/>
                    <a:pt x="1308354" y="292862"/>
                    <a:pt x="1308354" y="654177"/>
                  </a:cubicBezTo>
                  <a:cubicBezTo>
                    <a:pt x="1308354" y="1015492"/>
                    <a:pt x="1015492" y="1308354"/>
                    <a:pt x="654177" y="1308354"/>
                  </a:cubicBezTo>
                  <a:cubicBezTo>
                    <a:pt x="292862" y="1308354"/>
                    <a:pt x="0" y="1015492"/>
                    <a:pt x="0" y="654177"/>
                  </a:cubicBez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25689" y="9198654"/>
            <a:ext cx="376723" cy="376723"/>
            <a:chOff x="0" y="0"/>
            <a:chExt cx="502298" cy="5022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2285" cy="502285"/>
            </a:xfrm>
            <a:custGeom>
              <a:avLst/>
              <a:gdLst/>
              <a:ahLst/>
              <a:cxnLst/>
              <a:rect r="r" b="b" t="t" l="l"/>
              <a:pathLst>
                <a:path h="502285" w="502285">
                  <a:moveTo>
                    <a:pt x="0" y="251206"/>
                  </a:moveTo>
                  <a:cubicBezTo>
                    <a:pt x="0" y="112395"/>
                    <a:pt x="112395" y="0"/>
                    <a:pt x="251206" y="0"/>
                  </a:cubicBezTo>
                  <a:cubicBezTo>
                    <a:pt x="390017" y="0"/>
                    <a:pt x="502285" y="112395"/>
                    <a:pt x="502285" y="251206"/>
                  </a:cubicBezTo>
                  <a:cubicBezTo>
                    <a:pt x="502285" y="390017"/>
                    <a:pt x="389890" y="502285"/>
                    <a:pt x="251206" y="502285"/>
                  </a:cubicBezTo>
                  <a:cubicBezTo>
                    <a:pt x="112522" y="502285"/>
                    <a:pt x="0" y="389890"/>
                    <a:pt x="0" y="251206"/>
                  </a:cubicBez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6200" y="5730240"/>
            <a:ext cx="2590800" cy="4515040"/>
            <a:chOff x="0" y="0"/>
            <a:chExt cx="3454400" cy="6020054"/>
          </a:xfrm>
        </p:grpSpPr>
        <p:sp>
          <p:nvSpPr>
            <p:cNvPr name="Freeform 38" id="38"/>
            <p:cNvSpPr/>
            <p:nvPr/>
          </p:nvSpPr>
          <p:spPr>
            <a:xfrm flipH="true" flipV="false" rot="0">
              <a:off x="0" y="0"/>
              <a:ext cx="3454400" cy="6020054"/>
            </a:xfrm>
            <a:custGeom>
              <a:avLst/>
              <a:gdLst/>
              <a:ahLst/>
              <a:cxnLst/>
              <a:rect r="r" b="b" t="t" l="l"/>
              <a:pathLst>
                <a:path h="6020054" w="3454400">
                  <a:moveTo>
                    <a:pt x="3454400" y="0"/>
                  </a:moveTo>
                  <a:lnTo>
                    <a:pt x="0" y="0"/>
                  </a:lnTo>
                  <a:lnTo>
                    <a:pt x="0" y="6020054"/>
                  </a:lnTo>
                  <a:lnTo>
                    <a:pt x="3454400" y="6020054"/>
                  </a:lnTo>
                  <a:lnTo>
                    <a:pt x="3454400" y="0"/>
                  </a:lnTo>
                  <a:close/>
                </a:path>
              </a:pathLst>
            </a:custGeom>
            <a:blipFill>
              <a:blip r:embed="rId5"/>
              <a:stretch>
                <a:fillRect l="-5923" t="0" r="-5922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2836050" y="3596961"/>
            <a:ext cx="10767117" cy="713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28725" indent="-409575" lvl="2">
              <a:lnSpc>
                <a:spcPts val="5400"/>
              </a:lnSpc>
              <a:buFont typeface="Arial"/>
              <a:buChar char="⚬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Python (Pandas, NumPy)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data cleaning and analysis</a:t>
            </a:r>
          </a:p>
          <a:p>
            <a:pPr algn="l" marL="1228725" indent="-409575" lvl="2">
              <a:lnSpc>
                <a:spcPts val="5400"/>
              </a:lnSpc>
              <a:buFont typeface="Arial"/>
              <a:buChar char="⚬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Matplotlib &amp; Seaborn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data visualization</a:t>
            </a:r>
          </a:p>
          <a:p>
            <a:pPr algn="l" marL="1228725" indent="-409575" lvl="2">
              <a:lnSpc>
                <a:spcPts val="5400"/>
              </a:lnSpc>
              <a:buFont typeface="Arial"/>
              <a:buChar char="⚬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SciPy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statistical significance testing (ANOVA)</a:t>
            </a:r>
          </a:p>
          <a:p>
            <a:pPr algn="l" marL="1228725" indent="-409575" lvl="2">
              <a:lnSpc>
                <a:spcPts val="5400"/>
              </a:lnSpc>
              <a:buFont typeface="Arial"/>
              <a:buChar char="⚬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Jupyter Notebook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end-to-end documentation of the analysis</a:t>
            </a:r>
          </a:p>
          <a:p>
            <a:pPr algn="l" marL="1228725" indent="-409575" lvl="2">
              <a:lnSpc>
                <a:spcPts val="5400"/>
              </a:lnSpc>
              <a:buFont typeface="Arial"/>
              <a:buChar char="⚬"/>
            </a:pPr>
            <a:r>
              <a:rPr lang="en-US" b="true" sz="3000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Microsoft PowerPoint</a:t>
            </a:r>
            <a:r>
              <a:rPr lang="en-US" sz="3000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– project presentation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2040" y="672522"/>
            <a:ext cx="7776553" cy="11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Technology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1451" y="1646672"/>
            <a:ext cx="1624511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Seasonal KPIs: Yield, Profit, Cost &amp; Water Efficiency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024445" y="2298744"/>
            <a:ext cx="11183558" cy="7988256"/>
            <a:chOff x="0" y="0"/>
            <a:chExt cx="12033504" cy="859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0335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2033504">
                  <a:moveTo>
                    <a:pt x="0" y="0"/>
                  </a:moveTo>
                  <a:lnTo>
                    <a:pt x="12033504" y="0"/>
                  </a:lnTo>
                  <a:lnTo>
                    <a:pt x="12033504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1442" y="1484071"/>
            <a:ext cx="1624511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Share of Loss-Making Farms by Season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815095" y="2125980"/>
            <a:ext cx="11163567" cy="7442378"/>
            <a:chOff x="0" y="0"/>
            <a:chExt cx="12893040" cy="859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9304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2893040">
                  <a:moveTo>
                    <a:pt x="0" y="0"/>
                  </a:moveTo>
                  <a:lnTo>
                    <a:pt x="12893040" y="0"/>
                  </a:lnTo>
                  <a:lnTo>
                    <a:pt x="12893040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7687" y="1525905"/>
            <a:ext cx="1624511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Environmental Conditions Across Seasons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2470244" y="2125980"/>
            <a:ext cx="11186091" cy="7990065"/>
            <a:chOff x="0" y="0"/>
            <a:chExt cx="12033504" cy="859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033504" cy="8595360"/>
            </a:xfrm>
            <a:custGeom>
              <a:avLst/>
              <a:gdLst/>
              <a:ahLst/>
              <a:cxnLst/>
              <a:rect r="r" b="b" t="t" l="l"/>
              <a:pathLst>
                <a:path h="8595360" w="12033504">
                  <a:moveTo>
                    <a:pt x="0" y="0"/>
                  </a:moveTo>
                  <a:lnTo>
                    <a:pt x="12033504" y="0"/>
                  </a:lnTo>
                  <a:lnTo>
                    <a:pt x="12033504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1451" y="1656197"/>
            <a:ext cx="1624511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899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Crop-wise Average Yield by Season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12569" y="2682388"/>
            <a:ext cx="14319639" cy="7159814"/>
            <a:chOff x="0" y="0"/>
            <a:chExt cx="15710726" cy="78553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710663" cy="7855331"/>
            </a:xfrm>
            <a:custGeom>
              <a:avLst/>
              <a:gdLst/>
              <a:ahLst/>
              <a:cxnLst/>
              <a:rect r="r" b="b" t="t" l="l"/>
              <a:pathLst>
                <a:path h="7855331" w="15710663">
                  <a:moveTo>
                    <a:pt x="0" y="0"/>
                  </a:moveTo>
                  <a:lnTo>
                    <a:pt x="15710663" y="0"/>
                  </a:lnTo>
                  <a:lnTo>
                    <a:pt x="15710663" y="7855331"/>
                  </a:lnTo>
                  <a:lnTo>
                    <a:pt x="0" y="785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1442" y="1607896"/>
            <a:ext cx="1624511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 b="true">
                <a:solidFill>
                  <a:srgbClr val="40404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State-wise Average Profit (INR) by Season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71819" y="2125980"/>
            <a:ext cx="12997548" cy="7581900"/>
            <a:chOff x="0" y="0"/>
            <a:chExt cx="14734908" cy="8595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734921" cy="8595360"/>
            </a:xfrm>
            <a:custGeom>
              <a:avLst/>
              <a:gdLst/>
              <a:ahLst/>
              <a:cxnLst/>
              <a:rect r="r" b="b" t="t" l="l"/>
              <a:pathLst>
                <a:path h="8595360" w="14734921">
                  <a:moveTo>
                    <a:pt x="0" y="0"/>
                  </a:moveTo>
                  <a:lnTo>
                    <a:pt x="14734921" y="0"/>
                  </a:lnTo>
                  <a:lnTo>
                    <a:pt x="14734921" y="8595360"/>
                  </a:lnTo>
                  <a:lnTo>
                    <a:pt x="0" y="859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Future scope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7038" y="3347718"/>
            <a:ext cx="15567117" cy="448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779" indent="-257889" lvl="1">
              <a:lnSpc>
                <a:spcPts val="5130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Extend the analysis with predictive modelling to forecast yield and profit for upcoming seasons.</a:t>
            </a:r>
          </a:p>
          <a:p>
            <a:pPr algn="l" marL="515779" indent="-257889" lvl="1">
              <a:lnSpc>
                <a:spcPts val="5130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 real-time weather API data for more dynamic, up-to-date seasonal insights.</a:t>
            </a:r>
          </a:p>
          <a:p>
            <a:pPr algn="l" marL="515779" indent="-257889" lvl="1">
              <a:lnSpc>
                <a:spcPts val="5130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Add district-level drill-down analysis for finer, region-specific recommendations.</a:t>
            </a:r>
          </a:p>
          <a:p>
            <a:pPr algn="l" marL="515779" indent="-257889" lvl="1">
              <a:lnSpc>
                <a:spcPts val="5130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Build an interactive dashboard (Power BI / Streamlit) for easy use by farmers and policymakers.</a:t>
            </a:r>
          </a:p>
          <a:p>
            <a:pPr algn="l" marL="515779" indent="-257889" lvl="1">
              <a:lnSpc>
                <a:spcPts val="5130"/>
              </a:lnSpc>
              <a:buFont typeface="Arial"/>
              <a:buChar char="•"/>
            </a:pPr>
            <a:r>
              <a:rPr lang="en-US" sz="28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Include multiple years of historical data to study year-over-year seasonal trends.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692081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u="sng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  <a:hlinkClick r:id="rId4" tooltip="https://github.com/shivamkofficial/Seasonal-Agriculture-Performance-Analysis"/>
              </a:rPr>
              <a:t>GitHub Link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79464" y="3870958"/>
            <a:ext cx="9107291" cy="145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329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https://github.com/shivamkofficial/Seasonal-Agriculture-Performance-Analysis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997871" y="2391884"/>
            <a:ext cx="10695782" cy="7567266"/>
          </a:xfrm>
          <a:custGeom>
            <a:avLst/>
            <a:gdLst/>
            <a:ahLst/>
            <a:cxnLst/>
            <a:rect r="r" b="b" t="t" l="l"/>
            <a:pathLst>
              <a:path h="7567266" w="10695782">
                <a:moveTo>
                  <a:pt x="0" y="0"/>
                </a:moveTo>
                <a:lnTo>
                  <a:pt x="10695782" y="0"/>
                </a:lnTo>
                <a:lnTo>
                  <a:pt x="10695782" y="7567265"/>
                </a:lnTo>
                <a:lnTo>
                  <a:pt x="0" y="7567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05376" y="592074"/>
            <a:ext cx="12344200" cy="124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VOIS Course completion certificate - </a:t>
            </a:r>
          </a:p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Course name- Data Visualization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9/2/2026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007" y="5201336"/>
            <a:ext cx="687400" cy="592588"/>
            <a:chOff x="0" y="0"/>
            <a:chExt cx="916534" cy="7901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6559" cy="790067"/>
            </a:xfrm>
            <a:custGeom>
              <a:avLst/>
              <a:gdLst/>
              <a:ahLst/>
              <a:cxnLst/>
              <a:rect r="r" b="b" t="t" l="l"/>
              <a:pathLst>
                <a:path h="790067" w="916559">
                  <a:moveTo>
                    <a:pt x="0" y="395097"/>
                  </a:moveTo>
                  <a:lnTo>
                    <a:pt x="197485" y="0"/>
                  </a:lnTo>
                  <a:lnTo>
                    <a:pt x="718947" y="0"/>
                  </a:lnTo>
                  <a:lnTo>
                    <a:pt x="916559" y="395097"/>
                  </a:lnTo>
                  <a:lnTo>
                    <a:pt x="718947" y="790067"/>
                  </a:lnTo>
                  <a:lnTo>
                    <a:pt x="197485" y="790067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670007" y="3592087"/>
            <a:ext cx="537591" cy="463439"/>
            <a:chOff x="0" y="0"/>
            <a:chExt cx="716788" cy="6179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788" cy="617855"/>
            </a:xfrm>
            <a:custGeom>
              <a:avLst/>
              <a:gdLst/>
              <a:ahLst/>
              <a:cxnLst/>
              <a:rect r="r" b="b" t="t" l="l"/>
              <a:pathLst>
                <a:path h="617855" w="716788">
                  <a:moveTo>
                    <a:pt x="0" y="308991"/>
                  </a:moveTo>
                  <a:lnTo>
                    <a:pt x="154432" y="0"/>
                  </a:lnTo>
                  <a:lnTo>
                    <a:pt x="562356" y="0"/>
                  </a:lnTo>
                  <a:lnTo>
                    <a:pt x="716788" y="308991"/>
                  </a:lnTo>
                  <a:lnTo>
                    <a:pt x="562356" y="617855"/>
                  </a:lnTo>
                  <a:lnTo>
                    <a:pt x="154432" y="61785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323974" y="3303299"/>
            <a:ext cx="346034" cy="298304"/>
            <a:chOff x="0" y="0"/>
            <a:chExt cx="461378" cy="3977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1391" cy="397764"/>
            </a:xfrm>
            <a:custGeom>
              <a:avLst/>
              <a:gdLst/>
              <a:ahLst/>
              <a:cxnLst/>
              <a:rect r="r" b="b" t="t" l="l"/>
              <a:pathLst>
                <a:path h="397764" w="461391">
                  <a:moveTo>
                    <a:pt x="0" y="198882"/>
                  </a:moveTo>
                  <a:lnTo>
                    <a:pt x="99441" y="0"/>
                  </a:lnTo>
                  <a:lnTo>
                    <a:pt x="361950" y="0"/>
                  </a:lnTo>
                  <a:lnTo>
                    <a:pt x="461391" y="198882"/>
                  </a:lnTo>
                  <a:lnTo>
                    <a:pt x="361950" y="397764"/>
                  </a:lnTo>
                  <a:lnTo>
                    <a:pt x="99441" y="397764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7596" y="3303299"/>
            <a:ext cx="17010002" cy="2287970"/>
            <a:chOff x="0" y="0"/>
            <a:chExt cx="22680003" cy="30506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680000" cy="3050628"/>
            </a:xfrm>
            <a:custGeom>
              <a:avLst/>
              <a:gdLst/>
              <a:ahLst/>
              <a:cxnLst/>
              <a:rect r="r" b="b" t="t" l="l"/>
              <a:pathLst>
                <a:path h="3050628" w="22680000">
                  <a:moveTo>
                    <a:pt x="0" y="0"/>
                  </a:moveTo>
                  <a:lnTo>
                    <a:pt x="22680000" y="0"/>
                  </a:lnTo>
                  <a:lnTo>
                    <a:pt x="22680000" y="3050628"/>
                  </a:lnTo>
                  <a:lnTo>
                    <a:pt x="0" y="30506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912" r="0" b="-678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2680003" cy="30601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734"/>
                </a:lnSpc>
              </a:pPr>
              <a:r>
                <a:rPr lang="en-US" sz="12278" b="true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683234" y="6999084"/>
            <a:ext cx="3026664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78489" y="6999084"/>
            <a:ext cx="3026664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DAHUUgc6BSc</dc:identifier>
  <dcterms:modified xsi:type="dcterms:W3CDTF">2011-08-01T06:04:30Z</dcterms:modified>
  <cp:revision>1</cp:revision>
  <dc:title>Seasonal_Agriculture_Performance_Analysis_PPT.pptx</dc:title>
</cp:coreProperties>
</file>